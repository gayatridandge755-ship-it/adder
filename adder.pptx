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0F4FA"/>
                </a:solidFill>
              </a:defRPr>
            </a:pPr>
            <a:r>
              <a:t>32-BIT RIPPLE CARRY 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B4FF"/>
                </a:solidFill>
              </a:defRPr>
            </a:pPr>
            <a:r>
              <a:t>Verilog HDL Implementation in AMD Vivado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2316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EBCD2"/>
                </a:solidFill>
              </a:defRPr>
            </a:pPr>
            <a:r>
              <a:t>Half Adder → Full Adder → Generate-for → 32-bit Ripple Carry Adder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3154680"/>
            <a:ext cx="1737360" cy="329184"/>
          </a:xfrm>
          <a:prstGeom prst="roundRect">
            <a:avLst/>
          </a:prstGeom>
          <a:solidFill>
            <a:srgbClr val="4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3172968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A101E"/>
                </a:solidFill>
              </a:defRPr>
            </a:pPr>
            <a:r>
              <a:t>DIGITAL LOGIC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154680"/>
            <a:ext cx="1463040" cy="329184"/>
          </a:xfrm>
          <a:prstGeom prst="roundRect">
            <a:avLst/>
          </a:prstGeom>
          <a:solidFill>
            <a:srgbClr val="82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317296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A101E"/>
                </a:solidFill>
              </a:defRPr>
            </a:pPr>
            <a:r>
              <a:t>VERILOG HDL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3154680"/>
            <a:ext cx="1097280" cy="329184"/>
          </a:xfrm>
          <a:prstGeom prst="roundRect">
            <a:avLst/>
          </a:prstGeom>
          <a:solidFill>
            <a:srgbClr val="4A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317296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A101E"/>
                </a:solidFill>
              </a:defRPr>
            </a:pPr>
            <a:r>
              <a:t>VIVADO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57200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CD2"/>
                </a:solidFill>
              </a:defRPr>
            </a:pPr>
            <a:r>
              <a:t>Project documentation • RTL design • Simulation • Schematic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CD2"/>
                </a:solidFill>
              </a:defRPr>
            </a:pPr>
            <a:r>
              <a:t>32-Bit Ripple Carry Adder • Verilog HDL • Vivado    |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4FA"/>
                </a:solidFill>
              </a:defRPr>
            </a:pPr>
            <a:r>
              <a:t>1. Project Objective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303520" cy="44805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B4FF"/>
                </a:solidFill>
              </a:defRPr>
            </a:pPr>
            <a:r>
              <a:t>What are we building?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4617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0F4FA"/>
                </a:solidFill>
              </a:defRPr>
            </a:pPr>
            <a:r>
              <a:t>• Add two 32-bit binary numbers.</a:t>
            </a:r>
          </a:p>
          <a:p>
            <a:pPr>
              <a:spcAft>
                <a:spcPts val="700"/>
              </a:spcAft>
              <a:defRPr sz="1600">
                <a:solidFill>
                  <a:srgbClr val="F0F4FA"/>
                </a:solidFill>
              </a:defRPr>
            </a:pPr>
            <a:r>
              <a:t>• Use a Full Adder for each bit position.</a:t>
            </a:r>
          </a:p>
          <a:p>
            <a:pPr>
              <a:spcAft>
                <a:spcPts val="700"/>
              </a:spcAft>
              <a:defRPr sz="1600">
                <a:solidFill>
                  <a:srgbClr val="F0F4FA"/>
                </a:solidFill>
              </a:defRPr>
            </a:pPr>
            <a:r>
              <a:t>• Connect carry-out of one stage to carry-in of the next stage.</a:t>
            </a:r>
          </a:p>
          <a:p>
            <a:pPr>
              <a:spcAft>
                <a:spcPts val="700"/>
              </a:spcAft>
              <a:defRPr sz="1600">
                <a:solidFill>
                  <a:srgbClr val="F0F4FA"/>
                </a:solidFill>
              </a:defRPr>
            </a:pPr>
            <a:r>
              <a:t>• Generate all 32 Full Adder instances using a Verilog generate-for loop.</a:t>
            </a:r>
          </a:p>
          <a:p>
            <a:pPr>
              <a:spcAft>
                <a:spcPts val="700"/>
              </a:spcAft>
              <a:defRPr sz="1600">
                <a:solidFill>
                  <a:srgbClr val="F0F4FA"/>
                </a:solidFill>
              </a:defRPr>
            </a:pPr>
            <a:r>
              <a:t>• Produce a 33-bit result to include the final carry.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394960" cy="44805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296"/>
                </a:solidFill>
              </a:defRPr>
            </a:pPr>
            <a:r>
              <a:t>Design hierarchy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2402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F4FA"/>
                </a:solidFill>
              </a:defRPr>
            </a:pPr>
            <a:r>
              <a:t>Half Adder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743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AB4FF"/>
                </a:solidFill>
              </a:defRPr>
            </a:pPr>
            <a: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0632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F4FA"/>
                </a:solidFill>
              </a:defRPr>
            </a:pPr>
            <a:r>
              <a:t>Full Adder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5661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B4FF"/>
                </a:solidFill>
              </a:defRPr>
            </a:pPr>
            <a:r>
              <a:t>↓ × 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0690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0F4FA"/>
                </a:solidFill>
              </a:defRPr>
            </a:pPr>
            <a:r>
              <a:t>32-bit Ripple Carry Adder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CD2"/>
                </a:solidFill>
              </a:defRPr>
            </a:pPr>
            <a:r>
              <a:t>32-Bit Ripple Carry Adder • Verilog HDL • Vivado    |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4FA"/>
                </a:solidFill>
              </a:defRPr>
            </a:pPr>
            <a:r>
              <a:t>2. Half 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EBCD2"/>
                </a:solidFill>
              </a:defRPr>
            </a:pPr>
            <a:r>
              <a:t>The basic building block for binary addition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4937760" cy="452628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B4FF"/>
                </a:solidFill>
              </a:defRPr>
            </a:pPr>
            <a:r>
              <a:t>Logic equations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11680"/>
            <a:ext cx="4297680" cy="1097280"/>
          </a:xfrm>
          <a:prstGeom prst="roundRect">
            <a:avLst/>
          </a:prstGeom>
          <a:solidFill>
            <a:srgbClr val="070C17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121408"/>
            <a:ext cx="3968496" cy="8778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D2E1F0"/>
                </a:solidFill>
                <a:latin typeface="Consolas"/>
              </a:defRPr>
            </a:pPr>
            <a:r>
              <a:t>SUM   = A ⊕ B</a:t>
            </a:r>
            <a:br/>
            <a:r>
              <a:t>CARRY = A ·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AD296"/>
                </a:solidFill>
              </a:defRPr>
            </a:pPr>
            <a:r>
              <a:t>Truth 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794760"/>
            <a:ext cx="731520" cy="365760"/>
          </a:xfrm>
          <a:prstGeom prst="rect">
            <a:avLst/>
          </a:prstGeom>
          <a:solidFill>
            <a:srgbClr val="4AB4FF"/>
          </a:solidFill>
          <a:ln>
            <a:solidFill>
              <a:srgbClr val="46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813048"/>
            <a:ext cx="731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101E"/>
                </a:solidFill>
              </a:defRPr>
            </a:pPr>
            <a:r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3794760"/>
            <a:ext cx="731520" cy="365760"/>
          </a:xfrm>
          <a:prstGeom prst="rect">
            <a:avLst/>
          </a:prstGeom>
          <a:solidFill>
            <a:srgbClr val="4AB4FF"/>
          </a:solidFill>
          <a:ln>
            <a:solidFill>
              <a:srgbClr val="46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200" y="3813048"/>
            <a:ext cx="731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101E"/>
                </a:solidFill>
              </a:defRPr>
            </a:pPr>
            <a:r>
              <a:t>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1720" y="3794760"/>
            <a:ext cx="914400" cy="365760"/>
          </a:xfrm>
          <a:prstGeom prst="rect">
            <a:avLst/>
          </a:prstGeom>
          <a:solidFill>
            <a:srgbClr val="4AB4FF"/>
          </a:solidFill>
          <a:ln>
            <a:solidFill>
              <a:srgbClr val="46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3813048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101E"/>
                </a:solidFill>
              </a:defRPr>
            </a:pPr>
            <a:r>
              <a:t>SUM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3794760"/>
            <a:ext cx="1005840" cy="365760"/>
          </a:xfrm>
          <a:prstGeom prst="rect">
            <a:avLst/>
          </a:prstGeom>
          <a:solidFill>
            <a:srgbClr val="4AB4FF"/>
          </a:solidFill>
          <a:ln>
            <a:solidFill>
              <a:srgbClr val="46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813048"/>
            <a:ext cx="1005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101E"/>
                </a:solidFill>
              </a:defRPr>
            </a:pPr>
            <a:r>
              <a:t>CARRY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160520"/>
            <a:ext cx="731520" cy="365760"/>
          </a:xfrm>
          <a:prstGeom prst="rect">
            <a:avLst/>
          </a:prstGeom>
          <a:solidFill>
            <a:srgbClr val="1B273F"/>
          </a:solidFill>
          <a:ln>
            <a:solidFill>
              <a:srgbClr val="46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78808"/>
            <a:ext cx="731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0F4FA"/>
                </a:solidFill>
              </a:defRPr>
            </a:pPr>
            <a: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4160520"/>
            <a:ext cx="731520" cy="365760"/>
          </a:xfrm>
          <a:prstGeom prst="rect">
            <a:avLst/>
          </a:prstGeom>
          <a:solidFill>
            <a:srgbClr val="1B273F"/>
          </a:solidFill>
          <a:ln>
            <a:solidFill>
              <a:srgbClr val="46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4178808"/>
            <a:ext cx="731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0F4FA"/>
                </a:solidFill>
              </a:defRPr>
            </a:pPr>
            <a: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4160520"/>
            <a:ext cx="914400" cy="365760"/>
          </a:xfrm>
          <a:prstGeom prst="rect">
            <a:avLst/>
          </a:prstGeom>
          <a:solidFill>
            <a:srgbClr val="1B273F"/>
          </a:solidFill>
          <a:ln>
            <a:solidFill>
              <a:srgbClr val="46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20" y="4178808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0F4FA"/>
                </a:solidFill>
              </a:defRPr>
            </a:pPr>
            <a: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4160520"/>
            <a:ext cx="1005840" cy="365760"/>
          </a:xfrm>
          <a:prstGeom prst="rect">
            <a:avLst/>
          </a:prstGeom>
          <a:solidFill>
            <a:srgbClr val="1B273F"/>
          </a:solidFill>
          <a:ln>
            <a:solidFill>
              <a:srgbClr val="46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4178808"/>
            <a:ext cx="1005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0F4FA"/>
                </a:solidFill>
              </a:defRPr>
            </a:pPr>
            <a: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4526280"/>
            <a:ext cx="731520" cy="365760"/>
          </a:xfrm>
          <a:prstGeom prst="rect">
            <a:avLst/>
          </a:prstGeom>
          <a:solidFill>
            <a:srgbClr val="1B273F"/>
          </a:solidFill>
          <a:ln>
            <a:solidFill>
              <a:srgbClr val="46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544568"/>
            <a:ext cx="731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0F4FA"/>
                </a:solidFill>
              </a:defRPr>
            </a:pPr>
            <a: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00200" y="4526280"/>
            <a:ext cx="731520" cy="365760"/>
          </a:xfrm>
          <a:prstGeom prst="rect">
            <a:avLst/>
          </a:prstGeom>
          <a:solidFill>
            <a:srgbClr val="1B273F"/>
          </a:solidFill>
          <a:ln>
            <a:solidFill>
              <a:srgbClr val="46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4544568"/>
            <a:ext cx="731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0F4FA"/>
                </a:solidFill>
              </a:defRPr>
            </a:pPr>
            <a: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31720" y="4526280"/>
            <a:ext cx="914400" cy="365760"/>
          </a:xfrm>
          <a:prstGeom prst="rect">
            <a:avLst/>
          </a:prstGeom>
          <a:solidFill>
            <a:srgbClr val="1B273F"/>
          </a:solidFill>
          <a:ln>
            <a:solidFill>
              <a:srgbClr val="46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31720" y="4544568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0F4FA"/>
                </a:solidFill>
              </a:defRPr>
            </a:pPr>
            <a: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4526280"/>
            <a:ext cx="1005840" cy="365760"/>
          </a:xfrm>
          <a:prstGeom prst="rect">
            <a:avLst/>
          </a:prstGeom>
          <a:solidFill>
            <a:srgbClr val="1B273F"/>
          </a:solidFill>
          <a:ln>
            <a:solidFill>
              <a:srgbClr val="46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46120" y="4544568"/>
            <a:ext cx="1005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0F4FA"/>
                </a:solidFill>
              </a:defRPr>
            </a:pPr>
            <a: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4892040"/>
            <a:ext cx="731520" cy="365760"/>
          </a:xfrm>
          <a:prstGeom prst="rect">
            <a:avLst/>
          </a:prstGeom>
          <a:solidFill>
            <a:srgbClr val="1B273F"/>
          </a:solidFill>
          <a:ln>
            <a:solidFill>
              <a:srgbClr val="46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910328"/>
            <a:ext cx="731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0F4FA"/>
                </a:solidFill>
              </a:defRPr>
            </a:pPr>
            <a: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4892040"/>
            <a:ext cx="731520" cy="365760"/>
          </a:xfrm>
          <a:prstGeom prst="rect">
            <a:avLst/>
          </a:prstGeom>
          <a:solidFill>
            <a:srgbClr val="1B273F"/>
          </a:solidFill>
          <a:ln>
            <a:solidFill>
              <a:srgbClr val="46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00200" y="4910328"/>
            <a:ext cx="731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0F4FA"/>
                </a:solidFill>
              </a:defRPr>
            </a:pPr>
            <a: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31720" y="4892040"/>
            <a:ext cx="914400" cy="365760"/>
          </a:xfrm>
          <a:prstGeom prst="rect">
            <a:avLst/>
          </a:prstGeom>
          <a:solidFill>
            <a:srgbClr val="1B273F"/>
          </a:solidFill>
          <a:ln>
            <a:solidFill>
              <a:srgbClr val="46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31720" y="4910328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0F4FA"/>
                </a:solidFill>
              </a:defRPr>
            </a:pPr>
            <a: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46120" y="4892040"/>
            <a:ext cx="1005840" cy="365760"/>
          </a:xfrm>
          <a:prstGeom prst="rect">
            <a:avLst/>
          </a:prstGeom>
          <a:solidFill>
            <a:srgbClr val="1B273F"/>
          </a:solidFill>
          <a:ln>
            <a:solidFill>
              <a:srgbClr val="46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46120" y="4910328"/>
            <a:ext cx="1005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0F4FA"/>
                </a:solidFill>
              </a:defRPr>
            </a:pPr>
            <a:r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5257800"/>
            <a:ext cx="731520" cy="365760"/>
          </a:xfrm>
          <a:prstGeom prst="rect">
            <a:avLst/>
          </a:prstGeom>
          <a:solidFill>
            <a:srgbClr val="1B273F"/>
          </a:solidFill>
          <a:ln>
            <a:solidFill>
              <a:srgbClr val="46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276088"/>
            <a:ext cx="731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0F4FA"/>
                </a:solidFill>
              </a:defRPr>
            </a:pPr>
            <a:r>
              <a:t>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00200" y="5257800"/>
            <a:ext cx="731520" cy="365760"/>
          </a:xfrm>
          <a:prstGeom prst="rect">
            <a:avLst/>
          </a:prstGeom>
          <a:solidFill>
            <a:srgbClr val="1B273F"/>
          </a:solidFill>
          <a:ln>
            <a:solidFill>
              <a:srgbClr val="46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00200" y="5276088"/>
            <a:ext cx="731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0F4FA"/>
                </a:solidFill>
              </a:defRPr>
            </a:pPr>
            <a: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31720" y="5257800"/>
            <a:ext cx="914400" cy="365760"/>
          </a:xfrm>
          <a:prstGeom prst="rect">
            <a:avLst/>
          </a:prstGeom>
          <a:solidFill>
            <a:srgbClr val="1B273F"/>
          </a:solidFill>
          <a:ln>
            <a:solidFill>
              <a:srgbClr val="46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31720" y="5276088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0F4FA"/>
                </a:solidFill>
              </a:defRPr>
            </a:pPr>
            <a:r>
              <a:t>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46120" y="5257800"/>
            <a:ext cx="1005840" cy="365760"/>
          </a:xfrm>
          <a:prstGeom prst="rect">
            <a:avLst/>
          </a:prstGeom>
          <a:solidFill>
            <a:srgbClr val="1B273F"/>
          </a:solidFill>
          <a:ln>
            <a:solidFill>
              <a:srgbClr val="46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46120" y="5276088"/>
            <a:ext cx="1005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0F4FA"/>
                </a:solidFill>
              </a:defRPr>
            </a:pPr>
            <a:r>
              <a:t>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806440" y="1234440"/>
            <a:ext cx="5760720" cy="452628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296"/>
                </a:solidFill>
              </a:defRPr>
            </a:pPr>
            <a:r>
              <a:t>Verilog implementation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26480" y="2011680"/>
            <a:ext cx="5074920" cy="2331720"/>
          </a:xfrm>
          <a:prstGeom prst="roundRect">
            <a:avLst/>
          </a:prstGeom>
          <a:solidFill>
            <a:srgbClr val="070C17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91072" y="2121408"/>
            <a:ext cx="4745736" cy="21122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2E1F0"/>
                </a:solidFill>
                <a:latin typeface="Consolas"/>
              </a:defRPr>
            </a:pPr>
            <a:r>
              <a:t>module halfadder(</a:t>
            </a:r>
            <a:br/>
            <a:r>
              <a:t>    input a, b,</a:t>
            </a:r>
            <a:br/>
            <a:r>
              <a:t>    output sum, car</a:t>
            </a:r>
            <a:br/>
            <a:r>
              <a:t>);</a:t>
            </a:r>
            <a:br/>
            <a:r>
              <a:t>    assign sum = a ^ b;</a:t>
            </a:r>
            <a:br/>
            <a:r>
              <a:t>    assign car = a &amp; b;</a:t>
            </a:r>
            <a:br/>
            <a:r>
              <a:t>endmodule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4709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EBCD2"/>
                </a:solidFill>
              </a:defRPr>
            </a:pPr>
            <a:r>
              <a:t>XOR gives the Sum; AND gives the Carry.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CD2"/>
                </a:solidFill>
              </a:defRPr>
            </a:pPr>
            <a:r>
              <a:t>32-Bit Ripple Carry Adder • Verilog HDL • Vivado    |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4FA"/>
                </a:solidFill>
              </a:defRPr>
            </a:pPr>
            <a:r>
              <a:t>3. Full 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EBCD2"/>
                </a:solidFill>
              </a:defRPr>
            </a:pPr>
            <a:r>
              <a:t>Adds A, B and an incoming carry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212080" cy="452628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B4FF"/>
                </a:solidFill>
              </a:defRPr>
            </a:pPr>
            <a:r>
              <a:t>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4FA"/>
                </a:solidFill>
              </a:defRPr>
            </a:pPr>
            <a:r>
              <a:t>Two Half Adders + one OR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0F4FA"/>
                </a:solidFill>
              </a:defRPr>
            </a:pPr>
            <a:r>
              <a:t>• H1 adds A and B → s1, c1</a:t>
            </a:r>
          </a:p>
          <a:p>
            <a:pPr>
              <a:spcAft>
                <a:spcPts val="700"/>
              </a:spcAft>
              <a:defRPr sz="1600">
                <a:solidFill>
                  <a:srgbClr val="F0F4FA"/>
                </a:solidFill>
              </a:defRPr>
            </a:pPr>
            <a:r>
              <a:t>• H2 adds s1 and cin → sum, c2</a:t>
            </a:r>
          </a:p>
          <a:p>
            <a:pPr>
              <a:spcAft>
                <a:spcPts val="700"/>
              </a:spcAft>
              <a:defRPr sz="1600">
                <a:solidFill>
                  <a:srgbClr val="F0F4FA"/>
                </a:solidFill>
              </a:defRPr>
            </a:pPr>
            <a:r>
              <a:t>• OR gate combines c1 and c2 → cout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97680"/>
            <a:ext cx="4480560" cy="914400"/>
          </a:xfrm>
          <a:prstGeom prst="roundRect">
            <a:avLst/>
          </a:prstGeom>
          <a:solidFill>
            <a:srgbClr val="070C17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4407408"/>
            <a:ext cx="4151376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2E1F0"/>
                </a:solidFill>
                <a:latin typeface="Consolas"/>
              </a:defRPr>
            </a:pPr>
            <a:r>
              <a:t>sum  = A ⊕ B ⊕ cin</a:t>
            </a:r>
            <a:br/>
            <a:r>
              <a:t>cout = (A·B) + (cin·(A⊕B))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188720"/>
            <a:ext cx="5623560" cy="452628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7" y="2000253"/>
            <a:ext cx="5221224" cy="2308853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reenshot 2026-09-30 1849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19" y="2027685"/>
            <a:ext cx="5166360" cy="225398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6364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CD2"/>
                </a:solidFill>
              </a:defRPr>
            </a:pPr>
            <a:r>
              <a:t>Vivado RTL schematic of the Full Adder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CD2"/>
                </a:solidFill>
              </a:defRPr>
            </a:pPr>
            <a:r>
              <a:t>32-Bit Ripple Carry Adder • Verilog HDL • Vivado    |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4FA"/>
                </a:solidFill>
              </a:defRPr>
            </a:pPr>
            <a:r>
              <a:t>4. From Full Adder to 32-Bit 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4AB4FF"/>
                </a:solidFill>
              </a:defRPr>
            </a:pPr>
            <a:r>
              <a:t>Ripple-carry principle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234440" cy="1051560"/>
          </a:xfrm>
          <a:prstGeom prst="roundRect">
            <a:avLst/>
          </a:prstGeom>
          <a:solidFill>
            <a:srgbClr val="1B273F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84831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F4FA"/>
                </a:solidFill>
              </a:defRPr>
            </a:pPr>
            <a:r>
              <a:t>FA0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5059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EBCD2"/>
                </a:solidFill>
              </a:defRPr>
            </a:pPr>
            <a:r>
              <a:t>bit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130552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AD296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828800"/>
            <a:ext cx="1234440" cy="1051560"/>
          </a:xfrm>
          <a:prstGeom prst="roundRect">
            <a:avLst/>
          </a:prstGeom>
          <a:solidFill>
            <a:srgbClr val="1B273F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084831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F4FA"/>
                </a:solidFill>
              </a:defRPr>
            </a:pPr>
            <a:r>
              <a:t>FA1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45059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EBCD2"/>
                </a:solidFill>
              </a:defRPr>
            </a:pPr>
            <a:r>
              <a:t>bit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130552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AD296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828800"/>
            <a:ext cx="1234440" cy="1051560"/>
          </a:xfrm>
          <a:prstGeom prst="roundRect">
            <a:avLst/>
          </a:prstGeom>
          <a:solidFill>
            <a:srgbClr val="1B273F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084831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F4FA"/>
                </a:solidFill>
              </a:defRPr>
            </a:pPr>
            <a:r>
              <a:t>FA2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45059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EBCD2"/>
                </a:solidFill>
              </a:defRPr>
            </a:pPr>
            <a:r>
              <a:t>bit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130552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AD296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828800"/>
            <a:ext cx="1234440" cy="1051560"/>
          </a:xfrm>
          <a:prstGeom prst="roundRect">
            <a:avLst/>
          </a:prstGeom>
          <a:solidFill>
            <a:srgbClr val="1B273F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2084831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F4FA"/>
                </a:solidFill>
              </a:defRPr>
            </a:pPr>
            <a:r>
              <a:t>FA3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45059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EBCD2"/>
                </a:solidFill>
              </a:defRPr>
            </a:pPr>
            <a:r>
              <a:t>bit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130552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AD296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1828800"/>
            <a:ext cx="1371600" cy="1051560"/>
          </a:xfrm>
          <a:prstGeom prst="roundRect">
            <a:avLst/>
          </a:prstGeom>
          <a:solidFill>
            <a:srgbClr val="1B273F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08483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F4FA"/>
                </a:solidFill>
              </a:defRPr>
            </a:pPr>
            <a:r>
              <a:t>… FA31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42900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0F4FA"/>
                </a:solidFill>
              </a:defRPr>
            </a:pPr>
            <a:r>
              <a:t>• Each Full Adder handles one bit position.</a:t>
            </a:r>
          </a:p>
          <a:p>
            <a:pPr>
              <a:spcAft>
                <a:spcPts val="700"/>
              </a:spcAft>
              <a:defRPr sz="1600">
                <a:solidFill>
                  <a:srgbClr val="F0F4FA"/>
                </a:solidFill>
              </a:defRPr>
            </a:pPr>
            <a:r>
              <a:t>• Carry travels from the least-significant bit (LSB) toward the most-significant bit (MSB).</a:t>
            </a:r>
          </a:p>
          <a:p>
            <a:pPr>
              <a:spcAft>
                <a:spcPts val="700"/>
              </a:spcAft>
              <a:defRPr sz="1600">
                <a:solidFill>
                  <a:srgbClr val="F0F4FA"/>
                </a:solidFill>
              </a:defRPr>
            </a:pPr>
            <a:r>
              <a:t>• This is called a ripple-carry structure because the carry propagates through the stages.</a:t>
            </a:r>
          </a:p>
          <a:p>
            <a:pPr>
              <a:spcAft>
                <a:spcPts val="700"/>
              </a:spcAft>
              <a:defRPr sz="1600">
                <a:solidFill>
                  <a:srgbClr val="F0F4FA"/>
                </a:solidFill>
              </a:defRPr>
            </a:pPr>
            <a:r>
              <a:t>• For 32 bits: 32 Full Adders are required.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3246120"/>
            <a:ext cx="4846320" cy="210312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3520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AD296"/>
                </a:solidFill>
              </a:defRPr>
            </a:pPr>
            <a:r>
              <a:t>Signal widths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977639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4FA"/>
                </a:solidFill>
              </a:defRPr>
            </a:pPr>
            <a:r>
              <a:t>a  → [31:0]  = 32 bits</a:t>
            </a:r>
            <a:br/>
            <a:r>
              <a:t>b  → [31:0]  = 32 bits</a:t>
            </a:r>
            <a:br/>
            <a:r>
              <a:t>s  → [32:0]  = 33 bits</a:t>
            </a:r>
            <a:br/>
            <a:r>
              <a:t>c  → [32:0]  = carry chain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CD2"/>
                </a:solidFill>
              </a:defRPr>
            </a:pPr>
            <a:r>
              <a:t>32-Bit Ripple Carry Adder • Verilog HDL • Vivado    |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4FA"/>
                </a:solidFill>
              </a:defRPr>
            </a:pPr>
            <a:r>
              <a:t>5. Verilog Design of the 32-Bit Adder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88720"/>
            <a:ext cx="6492240" cy="5074920"/>
          </a:xfrm>
          <a:prstGeom prst="roundRect">
            <a:avLst/>
          </a:prstGeom>
          <a:solidFill>
            <a:srgbClr val="070C17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298448"/>
            <a:ext cx="6163055" cy="4855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2E1F0"/>
                </a:solidFill>
                <a:latin typeface="Consolas"/>
              </a:defRPr>
            </a:pPr>
            <a:r>
              <a:t>module adder(</a:t>
            </a:r>
            <a:br/>
            <a:r>
              <a:t>    input  [31:0] a,</a:t>
            </a:r>
            <a:br/>
            <a:r>
              <a:t>    input  [31:0] b,</a:t>
            </a:r>
            <a:br/>
            <a:r>
              <a:t>    output [32:0] s</a:t>
            </a:r>
            <a:br/>
            <a:r>
              <a:t>);</a:t>
            </a:r>
            <a:br/>
            <a:br/>
            <a:r>
              <a:t>    wire [32:0] c;</a:t>
            </a:r>
            <a:br/>
            <a:r>
              <a:t>    assign c[0] = 1'b0;</a:t>
            </a:r>
            <a:br/>
            <a:br/>
            <a:r>
              <a:t>    genvar i;</a:t>
            </a:r>
            <a:br/>
            <a:br/>
            <a:r>
              <a:t>    generate</a:t>
            </a:r>
            <a:br/>
            <a:r>
              <a:t>        for (i = 0; i &lt; 32; i = i + 1) begin</a:t>
            </a:r>
            <a:br/>
            <a:r>
              <a:t>            fulladder FA(</a:t>
            </a:r>
            <a:br/>
            <a:r>
              <a:t>                a[i], b[i], c[i],</a:t>
            </a:r>
            <a:br/>
            <a:r>
              <a:t>                s[i], c[i+1]</a:t>
            </a:r>
            <a:br/>
            <a:r>
              <a:t>            );</a:t>
            </a:r>
            <a:br/>
            <a:r>
              <a:t>        end</a:t>
            </a:r>
            <a:br/>
            <a:r>
              <a:t>    endgenerate</a:t>
            </a:r>
            <a:br/>
            <a:br/>
            <a:r>
              <a:t>    assign s[32] = c[32];</a:t>
            </a:r>
            <a:br/>
            <a:r>
              <a:t>endmodule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188720"/>
            <a:ext cx="4251960" cy="507492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1508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AB4FF"/>
                </a:solidFill>
              </a:defRPr>
            </a:pPr>
            <a:r>
              <a:t>What each part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2011680"/>
            <a:ext cx="3611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0F4FA"/>
                </a:solidFill>
              </a:defRPr>
            </a:pPr>
            <a:r>
              <a:t>• `wire [32:0] c` stores the carry chain.</a:t>
            </a:r>
          </a:p>
          <a:p>
            <a:pPr>
              <a:spcAft>
                <a:spcPts val="700"/>
              </a:spcAft>
              <a:defRPr sz="1400">
                <a:solidFill>
                  <a:srgbClr val="F0F4FA"/>
                </a:solidFill>
              </a:defRPr>
            </a:pPr>
            <a:r>
              <a:t>• `c[0] = 0` sets the initial carry-in.</a:t>
            </a:r>
          </a:p>
          <a:p>
            <a:pPr>
              <a:spcAft>
                <a:spcPts val="700"/>
              </a:spcAft>
              <a:defRPr sz="1400">
                <a:solidFill>
                  <a:srgbClr val="F0F4FA"/>
                </a:solidFill>
              </a:defRPr>
            </a:pPr>
            <a:r>
              <a:t>• `genvar i` creates a generate-loop index.</a:t>
            </a:r>
          </a:p>
          <a:p>
            <a:pPr>
              <a:spcAft>
                <a:spcPts val="700"/>
              </a:spcAft>
              <a:defRPr sz="1400">
                <a:solidFill>
                  <a:srgbClr val="F0F4FA"/>
                </a:solidFill>
              </a:defRPr>
            </a:pPr>
            <a:r>
              <a:t>• The loop instantiates 32 Full Adders.</a:t>
            </a:r>
          </a:p>
          <a:p>
            <a:pPr>
              <a:spcAft>
                <a:spcPts val="700"/>
              </a:spcAft>
              <a:defRPr sz="1400">
                <a:solidFill>
                  <a:srgbClr val="F0F4FA"/>
                </a:solidFill>
              </a:defRPr>
            </a:pPr>
            <a:r>
              <a:t>• `c[i]` is the carry-in and `c[i+1]` is the carry-out.</a:t>
            </a:r>
          </a:p>
          <a:p>
            <a:pPr>
              <a:spcAft>
                <a:spcPts val="700"/>
              </a:spcAft>
              <a:defRPr sz="1400">
                <a:solidFill>
                  <a:srgbClr val="F0F4FA"/>
                </a:solidFill>
              </a:defRPr>
            </a:pPr>
            <a:r>
              <a:t>• `s[32] = c[32]` exposes the final carry.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CD2"/>
                </a:solidFill>
              </a:defRPr>
            </a:pPr>
            <a:r>
              <a:t>32-Bit Ripple Carry Adder • Verilog HDL • Vivado    |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4FA"/>
                </a:solidFill>
              </a:defRPr>
            </a:pPr>
            <a:r>
              <a:t>6. Generate-for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EBCD2"/>
                </a:solidFill>
              </a:defRPr>
            </a:pPr>
            <a:r>
              <a:t>A key Verilog concept used to repeat hardware structures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486400" cy="452628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B4FF"/>
                </a:solidFill>
              </a:defRPr>
            </a:pPr>
            <a:r>
              <a:t>Template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965960"/>
            <a:ext cx="4937760" cy="2423160"/>
          </a:xfrm>
          <a:prstGeom prst="roundRect">
            <a:avLst/>
          </a:prstGeom>
          <a:solidFill>
            <a:srgbClr val="070C17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075688"/>
            <a:ext cx="4608576" cy="22037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2E1F0"/>
                </a:solidFill>
                <a:latin typeface="Consolas"/>
              </a:defRPr>
            </a:pPr>
            <a:r>
              <a:t>genvar i;</a:t>
            </a:r>
            <a:br/>
            <a:br/>
            <a:r>
              <a:t>generate</a:t>
            </a:r>
            <a:br/>
            <a:r>
              <a:t>    for (i = 0; i &lt; 32; i = i + 1) begin</a:t>
            </a:r>
            <a:br/>
            <a:r>
              <a:t>        fulladder FA(</a:t>
            </a:r>
            <a:br/>
            <a:r>
              <a:t>            a[i], b[i], c[i],</a:t>
            </a:r>
            <a:br/>
            <a:r>
              <a:t>            s[i], c[i+1]</a:t>
            </a:r>
            <a:br/>
            <a:r>
              <a:t>        );</a:t>
            </a:r>
            <a:br/>
            <a:r>
              <a:t>    end</a:t>
            </a:r>
            <a:br/>
            <a:r>
              <a:t>endgenerate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70916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EBCD2"/>
                </a:solidFill>
              </a:defRPr>
            </a:pPr>
            <a:r>
              <a:t>Vivado expands this into individual hardware instances.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234440"/>
            <a:ext cx="5212080" cy="452628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554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296"/>
                </a:solidFill>
              </a:defRPr>
            </a:pPr>
            <a:r>
              <a:t>How the loop maps to hardware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2103120"/>
            <a:ext cx="1143000" cy="502920"/>
          </a:xfrm>
          <a:prstGeom prst="roundRect">
            <a:avLst/>
          </a:prstGeom>
          <a:solidFill>
            <a:srgbClr val="1B273F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21945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4FA"/>
                </a:solidFill>
              </a:defRPr>
            </a:pPr>
            <a:r>
              <a:t>i =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1762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B4FF"/>
                </a:solidFill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1762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4FA"/>
                </a:solidFill>
              </a:defRPr>
            </a:pPr>
            <a:r>
              <a:t>FA0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2816352"/>
            <a:ext cx="1143000" cy="502920"/>
          </a:xfrm>
          <a:prstGeom prst="roundRect">
            <a:avLst/>
          </a:prstGeom>
          <a:solidFill>
            <a:srgbClr val="1B273F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290779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4FA"/>
                </a:solidFill>
              </a:defRPr>
            </a:pPr>
            <a:r>
              <a:t>i =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88950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B4FF"/>
                </a:solidFill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8895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4FA"/>
                </a:solidFill>
              </a:defRPr>
            </a:pPr>
            <a:r>
              <a:t>FA1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3529584"/>
            <a:ext cx="1143000" cy="502920"/>
          </a:xfrm>
          <a:prstGeom prst="roundRect">
            <a:avLst/>
          </a:prstGeom>
          <a:solidFill>
            <a:srgbClr val="1B273F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621024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4FA"/>
                </a:solidFill>
              </a:defRPr>
            </a:pPr>
            <a:r>
              <a:t>i =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60273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B4FF"/>
                </a:solidFill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60273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4FA"/>
                </a:solidFill>
              </a:defRPr>
            </a:pPr>
            <a:r>
              <a:t>FA2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12280" y="4242816"/>
            <a:ext cx="1143000" cy="502920"/>
          </a:xfrm>
          <a:prstGeom prst="roundRect">
            <a:avLst/>
          </a:prstGeom>
          <a:solidFill>
            <a:srgbClr val="1B273F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4334255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4FA"/>
                </a:solidFill>
              </a:defRPr>
            </a:pPr>
            <a:r>
              <a:t>i =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43159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B4FF"/>
                </a:solidFill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3159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4FA"/>
                </a:solidFill>
              </a:defRPr>
            </a:pPr>
            <a:r>
              <a:t>FA3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4572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EBCD2"/>
                </a:solidFill>
              </a:defRPr>
            </a:pPr>
            <a:r>
              <a:t>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4FA"/>
                </a:solidFill>
              </a:defRPr>
            </a:pPr>
            <a:r>
              <a:t>i = 31  →  FA31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CD2"/>
                </a:solidFill>
              </a:defRPr>
            </a:pPr>
            <a:r>
              <a:t>32-Bit Ripple Carry Adder • Verilog HDL • Vivado    |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4FA"/>
                </a:solidFill>
              </a:defRPr>
            </a:pPr>
            <a:r>
              <a:t>7. Vivado RTL Schematic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3443190" y="1161288"/>
            <a:ext cx="1800419" cy="5266944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9-30 2201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622" y="1188720"/>
            <a:ext cx="1745555" cy="5212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75320" y="1188720"/>
            <a:ext cx="3291840" cy="521208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5087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AB4FF"/>
                </a:solidFill>
              </a:defRPr>
            </a:pPr>
            <a:r>
              <a:t>What the schematic 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2240280"/>
            <a:ext cx="2743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0F4FA"/>
                </a:solidFill>
              </a:defRPr>
            </a:pPr>
            <a:r>
              <a:t>• Generated Full Adder instances appear as genblk blocks.</a:t>
            </a:r>
          </a:p>
          <a:p>
            <a:pPr>
              <a:spcAft>
                <a:spcPts val="700"/>
              </a:spcAft>
              <a:defRPr sz="1400">
                <a:solidFill>
                  <a:srgbClr val="F0F4FA"/>
                </a:solidFill>
              </a:defRPr>
            </a:pPr>
            <a:r>
              <a:t>• There are 32 repeated stages for a 32-bit design.</a:t>
            </a:r>
          </a:p>
          <a:p>
            <a:pPr>
              <a:spcAft>
                <a:spcPts val="700"/>
              </a:spcAft>
              <a:defRPr sz="1400">
                <a:solidFill>
                  <a:srgbClr val="F0F4FA"/>
                </a:solidFill>
              </a:defRPr>
            </a:pPr>
            <a:r>
              <a:t>• The carry chain connects one stage to the next.</a:t>
            </a:r>
          </a:p>
          <a:p>
            <a:pPr>
              <a:spcAft>
                <a:spcPts val="700"/>
              </a:spcAft>
              <a:defRPr sz="1400">
                <a:solidFill>
                  <a:srgbClr val="F0F4FA"/>
                </a:solidFill>
              </a:defRPr>
            </a:pPr>
            <a:r>
              <a:t>• Vivado elaborates the generate-for loop into hardware structure.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50749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EBCD2"/>
                </a:solidFill>
              </a:defRPr>
            </a:pPr>
            <a:r>
              <a:t>Tip: the schematic layout may look vertical or compact; the important part is the connectivity.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CD2"/>
                </a:solidFill>
              </a:defRPr>
            </a:pPr>
            <a:r>
              <a:t>32-Bit Ripple Carry Adder • Verilog HDL • Vivado    |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4FA"/>
                </a:solidFill>
              </a:defRPr>
            </a:pPr>
            <a:r>
              <a:t>8. Full Adder Functional Simulation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940109"/>
            <a:ext cx="7644384" cy="3617861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9-30 1853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67541"/>
            <a:ext cx="7589520" cy="356299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234440"/>
            <a:ext cx="3154680" cy="502920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AD296"/>
                </a:solidFill>
              </a:defRPr>
            </a:pPr>
            <a:r>
              <a:t>Observed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574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4FA"/>
                </a:solidFill>
              </a:defRPr>
            </a:pPr>
            <a:r>
              <a:t>a   = 0</a:t>
            </a:r>
            <a:br/>
            <a:r>
              <a:t>b   = 1</a:t>
            </a:r>
            <a:br/>
            <a:r>
              <a:t>cin = 1</a:t>
            </a:r>
            <a:br/>
            <a:br/>
            <a:r>
              <a:t>sum  = 0</a:t>
            </a:r>
            <a:br/>
            <a:r>
              <a:t>cout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42519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AB4FF"/>
                </a:solidFill>
              </a:defRPr>
            </a:pPr>
            <a:r>
              <a:t>1 + 1 = 10₂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48006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EBCD2"/>
                </a:solidFill>
              </a:defRPr>
            </a:pPr>
            <a:r>
              <a:t>The waveform confirms that the Full Adder produces the correct sum and carry for this input combination.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CD2"/>
                </a:solidFill>
              </a:defRPr>
            </a:pPr>
            <a:r>
              <a:t>32-Bit Ripple Carry Adder • Verilog HDL • Vivado    |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4FA"/>
                </a:solidFill>
              </a:defRPr>
            </a:pPr>
            <a:r>
              <a:t>9. Adder Functional Simulation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2071217"/>
            <a:ext cx="5541264" cy="2852725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9-30 1924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98649"/>
            <a:ext cx="5486400" cy="27978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90488" y="2087059"/>
            <a:ext cx="5495544" cy="2821041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 2026-09-30 1925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14491"/>
            <a:ext cx="5440680" cy="27661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3387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4FA"/>
                </a:solidFill>
              </a:defRPr>
            </a:pPr>
            <a:r>
              <a:t>Example: a = 9, b =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8338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4FA"/>
                </a:solidFill>
              </a:defRPr>
            </a:pPr>
            <a:r>
              <a:t>The waveform displays 0x12 = 18₁₀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CD2"/>
                </a:solidFill>
              </a:defRPr>
            </a:pPr>
            <a:r>
              <a:t>32-Bit Ripple Carry Adder • Verilog HDL • Vivado    |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4FA"/>
                </a:solidFill>
              </a:defRPr>
            </a:pPr>
            <a:r>
              <a:t>10. Understanding the Simulation 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03520" cy="44805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B4FF"/>
                </a:solidFill>
              </a:defRPr>
            </a:pPr>
            <a:r>
              <a:t>Why does Vivado show 12?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4FA"/>
                </a:solidFill>
              </a:defRPr>
            </a:pPr>
            <a:r>
              <a:t>The Objects window is displaying the bus value in hexadecimal.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971800"/>
            <a:ext cx="4389120" cy="1234440"/>
          </a:xfrm>
          <a:prstGeom prst="roundRect">
            <a:avLst/>
          </a:prstGeom>
          <a:solidFill>
            <a:srgbClr val="070C17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3081528"/>
            <a:ext cx="4059935" cy="10149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D2E1F0"/>
                </a:solidFill>
                <a:latin typeface="Consolas"/>
              </a:defRPr>
            </a:pPr>
            <a:r>
              <a:t>Hexadecimal : 0x12</a:t>
            </a:r>
            <a:br/>
            <a:r>
              <a:t>Decimal     : 18</a:t>
            </a:r>
            <a:br/>
            <a:r>
              <a:t>Binary      : 10010₂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296"/>
                </a:solidFill>
              </a:defRPr>
            </a:pPr>
            <a:r>
              <a:t>Therefore: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4FA"/>
                </a:solidFill>
              </a:defRPr>
            </a:pPr>
            <a:r>
              <a:t>9 + 9 = 18 = 10010₂ = 0x12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303520" cy="44805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296"/>
                </a:solidFill>
              </a:defRPr>
            </a:pPr>
            <a:r>
              <a:t>Important 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4480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0F4FA"/>
                </a:solidFill>
              </a:defRPr>
            </a:pPr>
            <a:r>
              <a:t>• The lower four bits represent the 4-bit sum.</a:t>
            </a:r>
          </a:p>
          <a:p>
            <a:pPr>
              <a:spcAft>
                <a:spcPts val="700"/>
              </a:spcAft>
              <a:defRPr sz="1500">
                <a:solidFill>
                  <a:srgbClr val="F0F4FA"/>
                </a:solidFill>
              </a:defRPr>
            </a:pPr>
            <a:r>
              <a:t>• The extra MSB represents the carry.</a:t>
            </a:r>
          </a:p>
          <a:p>
            <a:pPr>
              <a:spcAft>
                <a:spcPts val="700"/>
              </a:spcAft>
              <a:defRPr sz="1500">
                <a:solidFill>
                  <a:srgbClr val="F0F4FA"/>
                </a:solidFill>
              </a:defRPr>
            </a:pPr>
            <a:r>
              <a:t>• For a 32-bit implementation, the same idea extends to 32 stages and a 33-bit result.</a:t>
            </a:r>
          </a:p>
          <a:p>
            <a:pPr>
              <a:spcAft>
                <a:spcPts val="700"/>
              </a:spcAft>
              <a:defRPr sz="1500">
                <a:solidFill>
                  <a:srgbClr val="F0F4FA"/>
                </a:solidFill>
              </a:defRPr>
            </a:pPr>
            <a:r>
              <a:t>• Simulation verifies functional behavior before hardware implementation.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98348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AEBCD2"/>
                </a:solidFill>
              </a:defRPr>
            </a:pPr>
            <a:r>
              <a:t>Note: the screenshots show a 4-bit simulation example used to verify the same adder concept; the final architecture is extended to 32 bits.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CD2"/>
                </a:solidFill>
              </a:defRPr>
            </a:pPr>
            <a:r>
              <a:t>32-Bit Ripple Carry Adder • Verilog HDL • Vivado    |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4FA"/>
                </a:solidFill>
              </a:defRPr>
            </a:pPr>
            <a:r>
              <a:t>11. Key Concepts &amp; Viva 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486400" cy="489204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B4FF"/>
                </a:solidFill>
              </a:defRPr>
            </a:pPr>
            <a:r>
              <a:t>Concepts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0F4FA"/>
                </a:solidFill>
              </a:defRPr>
            </a:pPr>
            <a:r>
              <a:t>• Half Adder: XOR + AND</a:t>
            </a:r>
          </a:p>
          <a:p>
            <a:pPr>
              <a:spcAft>
                <a:spcPts val="700"/>
              </a:spcAft>
              <a:defRPr sz="1500">
                <a:solidFill>
                  <a:srgbClr val="F0F4FA"/>
                </a:solidFill>
              </a:defRPr>
            </a:pPr>
            <a:r>
              <a:t>• Full Adder: two Half Adders + OR</a:t>
            </a:r>
          </a:p>
          <a:p>
            <a:pPr>
              <a:spcAft>
                <a:spcPts val="700"/>
              </a:spcAft>
              <a:defRPr sz="1500">
                <a:solidFill>
                  <a:srgbClr val="F0F4FA"/>
                </a:solidFill>
              </a:defRPr>
            </a:pPr>
            <a:r>
              <a:t>• Ripple Carry: carry propagates between stages</a:t>
            </a:r>
          </a:p>
          <a:p>
            <a:pPr>
              <a:spcAft>
                <a:spcPts val="700"/>
              </a:spcAft>
              <a:defRPr sz="1500">
                <a:solidFill>
                  <a:srgbClr val="F0F4FA"/>
                </a:solidFill>
              </a:defRPr>
            </a:pPr>
            <a:r>
              <a:t>• generate-for: creates repeated hardware instances</a:t>
            </a:r>
          </a:p>
          <a:p>
            <a:pPr>
              <a:spcAft>
                <a:spcPts val="700"/>
              </a:spcAft>
              <a:defRPr sz="1500">
                <a:solidFill>
                  <a:srgbClr val="F0F4FA"/>
                </a:solidFill>
              </a:defRPr>
            </a:pPr>
            <a:r>
              <a:t>• genvar: generate-loop variable</a:t>
            </a:r>
          </a:p>
          <a:p>
            <a:pPr>
              <a:spcAft>
                <a:spcPts val="700"/>
              </a:spcAft>
              <a:defRPr sz="1500">
                <a:solidFill>
                  <a:srgbClr val="F0F4FA"/>
                </a:solidFill>
              </a:defRPr>
            </a:pPr>
            <a:r>
              <a:t>• Bus notation: [31:0] means 32 bits</a:t>
            </a:r>
          </a:p>
          <a:p>
            <a:pPr>
              <a:spcAft>
                <a:spcPts val="700"/>
              </a:spcAft>
              <a:defRPr sz="1500">
                <a:solidFill>
                  <a:srgbClr val="F0F4FA"/>
                </a:solidFill>
              </a:defRPr>
            </a:pPr>
            <a:r>
              <a:t>• 33-bit output stores the final carry</a:t>
            </a:r>
          </a:p>
          <a:p>
            <a:pPr>
              <a:spcAft>
                <a:spcPts val="700"/>
              </a:spcAft>
              <a:defRPr sz="1500">
                <a:solidFill>
                  <a:srgbClr val="F0F4FA"/>
                </a:solidFill>
              </a:defRPr>
            </a:pPr>
            <a:r>
              <a:t>• Vivado: RTL elaboration, schematic and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34440"/>
            <a:ext cx="5257800" cy="489204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296"/>
                </a:solidFill>
              </a:defRPr>
            </a:pPr>
            <a:r>
              <a:t>Common viva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57400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0F4FA"/>
                </a:solidFill>
              </a:defRPr>
            </a:pPr>
            <a:r>
              <a:t>• Why do we need 33 output bits?</a:t>
            </a:r>
          </a:p>
          <a:p>
            <a:pPr>
              <a:spcAft>
                <a:spcPts val="700"/>
              </a:spcAft>
              <a:defRPr sz="1400">
                <a:solidFill>
                  <a:srgbClr val="F0F4FA"/>
                </a:solidFill>
              </a:defRPr>
            </a:pPr>
            <a:r>
              <a:t>• Why is c[0] assigned 0?</a:t>
            </a:r>
          </a:p>
          <a:p>
            <a:pPr>
              <a:spcAft>
                <a:spcPts val="700"/>
              </a:spcAft>
              <a:defRPr sz="1400">
                <a:solidFill>
                  <a:srgbClr val="F0F4FA"/>
                </a:solidFill>
              </a:defRPr>
            </a:pPr>
            <a:r>
              <a:t>• Why use generate-for instead of writing 32 instances manually?</a:t>
            </a:r>
          </a:p>
          <a:p>
            <a:pPr>
              <a:spcAft>
                <a:spcPts val="700"/>
              </a:spcAft>
              <a:defRPr sz="1400">
                <a:solidFill>
                  <a:srgbClr val="F0F4FA"/>
                </a:solidFill>
              </a:defRPr>
            </a:pPr>
            <a:r>
              <a:t>• What is the difference between a Half Adder and Full Adder?</a:t>
            </a:r>
          </a:p>
          <a:p>
            <a:pPr>
              <a:spcAft>
                <a:spcPts val="700"/>
              </a:spcAft>
              <a:defRPr sz="1400">
                <a:solidFill>
                  <a:srgbClr val="F0F4FA"/>
                </a:solidFill>
              </a:defRPr>
            </a:pPr>
            <a:r>
              <a:t>• What is ripple-carry propagation?</a:t>
            </a:r>
          </a:p>
          <a:p>
            <a:pPr>
              <a:spcAft>
                <a:spcPts val="700"/>
              </a:spcAft>
              <a:defRPr sz="1400">
                <a:solidFill>
                  <a:srgbClr val="F0F4FA"/>
                </a:solidFill>
              </a:defRPr>
            </a:pPr>
            <a:r>
              <a:t>• What does genvar do?</a:t>
            </a:r>
          </a:p>
          <a:p>
            <a:pPr>
              <a:spcAft>
                <a:spcPts val="700"/>
              </a:spcAft>
              <a:defRPr sz="1400">
                <a:solidFill>
                  <a:srgbClr val="F0F4FA"/>
                </a:solidFill>
              </a:defRPr>
            </a:pPr>
            <a:r>
              <a:t>• Why is the final carry connected to s[32]?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CD2"/>
                </a:solidFill>
              </a:defRPr>
            </a:pPr>
            <a:r>
              <a:t>32-Bit Ripple Carry Adder • Verilog HDL • Vivado    |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4FA"/>
                </a:solidFill>
              </a:defRPr>
            </a:pPr>
            <a:r>
              <a:t>12.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429768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78308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AB4FF"/>
                </a:solidFill>
              </a:defRPr>
            </a:pPr>
            <a:r>
              <a:t>Final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514600"/>
            <a:ext cx="9326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0F4FA"/>
                </a:solidFill>
              </a:defRPr>
            </a:pPr>
            <a:r>
              <a:t>A hierarchical 32-bit Ripple Carry Adder was designed in Verilog HDL using reusable Half Adder and Full Adder modules. A generate-for loop was used to instantiate 32 Full Adders, and Vivado was used for RTL analysis and functional simulation.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4160520"/>
            <a:ext cx="1463040" cy="329184"/>
          </a:xfrm>
          <a:prstGeom prst="roundRect">
            <a:avLst/>
          </a:prstGeom>
          <a:solidFill>
            <a:srgbClr val="4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40" y="4178807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A101E"/>
                </a:solidFill>
              </a:defRPr>
            </a:pPr>
            <a:r>
              <a:t>HALF ADDER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4160520"/>
            <a:ext cx="1508760" cy="329184"/>
          </a:xfrm>
          <a:prstGeom prst="roundRect">
            <a:avLst/>
          </a:prstGeom>
          <a:solidFill>
            <a:srgbClr val="82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4178807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A101E"/>
                </a:solidFill>
              </a:defRPr>
            </a:pPr>
            <a:r>
              <a:t>FULL ADDER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4160520"/>
            <a:ext cx="1737360" cy="329184"/>
          </a:xfrm>
          <a:prstGeom prst="roundRect">
            <a:avLst/>
          </a:prstGeom>
          <a:solidFill>
            <a:srgbClr val="4A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4178807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A101E"/>
                </a:solidFill>
              </a:defRPr>
            </a:pPr>
            <a:r>
              <a:t>GENERATE-FOR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4160520"/>
            <a:ext cx="1463040" cy="329184"/>
          </a:xfrm>
          <a:prstGeom prst="roundRect">
            <a:avLst/>
          </a:prstGeom>
          <a:solidFill>
            <a:srgbClr val="FFA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4178807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A101E"/>
                </a:solidFill>
              </a:defRPr>
            </a:pPr>
            <a:r>
              <a:t>32-BIT RCA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F0F4FA"/>
                </a:solidFill>
              </a:defRPr>
            </a:pPr>
            <a: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CD2"/>
                </a:solidFill>
              </a:defRPr>
            </a:pPr>
            <a:r>
              <a:t>32-Bit Ripple Carry Adder • Verilog HDL • Vivado    |  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